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12192000"/>
  <p:embeddedFontLst>
    <p:embeddedFont>
      <p:font typeface="Inter"/>
      <p:regular r:id="rId22"/>
      <p:bold r:id="rId23"/>
      <p:italic r:id="rId24"/>
      <p:boldItalic r:id="rId25"/>
    </p:embeddedFont>
    <p:embeddedFont>
      <p:font typeface="JetBrains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m22+ptTmpdCkPvSombOX16SJ8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51ED49-4250-462A-98FE-B3909A0E3661}">
  <a:tblStyle styleId="{3851ED49-4250-462A-98FE-B3909A0E36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regular.fntdata"/><Relationship Id="rId21" Type="http://schemas.openxmlformats.org/officeDocument/2006/relationships/slide" Target="slides/slide16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JetBrainsMono-italic.fntdata"/><Relationship Id="rId27" Type="http://schemas.openxmlformats.org/officeDocument/2006/relationships/font" Target="fonts/JetBrains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Présenter le cadre : exercice de crise SOC sur AtlasGrid. Ce dossier précède le développement de CyberShield SOC et fixe la règle : chaque chiffre affiché est traçable à une pièce, sinon il est marqué Démo ou N/A.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1216"/>
              </a:gs>
              <a:gs pos="55000">
                <a:srgbClr val="0E1216"/>
              </a:gs>
              <a:gs pos="100000">
                <a:srgbClr val="12261A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ust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812800"/>
            <a:ext cx="355600" cy="3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1295400" y="866180"/>
            <a:ext cx="194252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400"/>
              <a:buFont typeface="JetBrains Mono"/>
              <a:buNone/>
            </a:pPr>
            <a:r>
              <a:rPr b="1" i="0" lang="en-US" sz="14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CYBERSHIELD SOC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12800" y="2048669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DOSSIER D'ANALYSE · PHASE AVANT DÉVELOPPEMENT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2800" y="2439789"/>
            <a:ext cx="10883392" cy="1579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6000"/>
              <a:buFont typeface="Inter"/>
              <a:buNone/>
            </a:pPr>
            <a:r>
              <a:rPr b="1" i="0" lang="en-US" sz="60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Incident MIRAGE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6000"/>
              <a:buFont typeface="Inter"/>
              <a:buNone/>
            </a:pPr>
            <a:r>
              <a:rPr b="1" i="0" lang="en-US" sz="60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chez AtlasGrid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12800" y="4171950"/>
            <a:ext cx="8175625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Ce que les trois rapports prouvent, ce qu'ils écartent, et comment le dashboard SOC l'affichera sans inventer un seul chiffre.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15975" y="5695355"/>
            <a:ext cx="1225848" cy="346670"/>
          </a:xfrm>
          <a:prstGeom prst="roundRect">
            <a:avLst>
              <a:gd fmla="val 50000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958850" y="5762030"/>
            <a:ext cx="99089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D9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D9A6"/>
                </a:solidFill>
                <a:latin typeface="Inter"/>
                <a:ea typeface="Inter"/>
                <a:cs typeface="Inter"/>
                <a:sym typeface="Inter"/>
              </a:rPr>
              <a:t>3 documents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149773" y="5695355"/>
            <a:ext cx="1689993" cy="346670"/>
          </a:xfrm>
          <a:prstGeom prst="roundRect">
            <a:avLst>
              <a:gd fmla="val 50000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292648" y="5762030"/>
            <a:ext cx="145504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D9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D9A6"/>
                </a:solidFill>
                <a:latin typeface="Inter"/>
                <a:ea typeface="Inter"/>
                <a:cs typeface="Inter"/>
                <a:sym typeface="Inter"/>
              </a:rPr>
              <a:t>22 fiches d'analyse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947716" y="5695355"/>
            <a:ext cx="1811437" cy="346670"/>
          </a:xfrm>
          <a:prstGeom prst="roundRect">
            <a:avLst>
              <a:gd fmla="val 50000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090591" y="5762030"/>
            <a:ext cx="157648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D9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D9A6"/>
                </a:solidFill>
                <a:latin typeface="Inter"/>
                <a:ea typeface="Inter"/>
                <a:cs typeface="Inter"/>
                <a:sym typeface="Inter"/>
              </a:rPr>
              <a:t>35 annonces du SOC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867102" y="5695355"/>
            <a:ext cx="1601391" cy="346670"/>
          </a:xfrm>
          <a:prstGeom prst="roundRect">
            <a:avLst>
              <a:gd fmla="val 50000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009977" y="5762030"/>
            <a:ext cx="136644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D9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D9A6"/>
                </a:solidFill>
                <a:latin typeface="Inter"/>
                <a:ea typeface="Inter"/>
                <a:cs typeface="Inter"/>
                <a:sym typeface="Inter"/>
              </a:rPr>
              <a:t>Période J-21 → J2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· RÉSUMÉ DU PROJET · B · DOCUMENTS ANALYSÉS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Un rançongiciel préparé pendant trois semaines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12800" y="1518841"/>
            <a:ext cx="5284724" cy="120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Exercice de crise sur AtlasGrid : l'attaquant utilise le compte prestataire </a:t>
            </a:r>
            <a:r>
              <a:rPr b="1" i="0" lang="en-US" sz="16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svc_oasisnet</a:t>
            </a:r>
            <a:r>
              <a:rPr b="0" i="0" lang="en-US" sz="16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 dès J-21, vole 117,8 Go, sabote les sauvegardes, puis lance </a:t>
            </a:r>
            <a:r>
              <a:rPr b="1" i="0" lang="en-US" sz="16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Mirage.A</a:t>
            </a:r>
            <a:r>
              <a:rPr b="0" i="0" lang="en-US" sz="16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 sur FIN-112 à J-1 03:12.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15975" y="2878138"/>
            <a:ext cx="5124450" cy="1984772"/>
          </a:xfrm>
          <a:prstGeom prst="roundRect">
            <a:avLst>
              <a:gd fmla="val 176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2"/>
          <p:cNvCxnSpPr/>
          <p:nvPr/>
        </p:nvCxnSpPr>
        <p:spPr>
          <a:xfrm>
            <a:off x="819150" y="3539728"/>
            <a:ext cx="5118100" cy="0"/>
          </a:xfrm>
          <a:prstGeom prst="straightConnector1">
            <a:avLst/>
          </a:prstGeom>
          <a:noFill/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971550" y="2995613"/>
            <a:ext cx="144780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Vecteur d'entrée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520950" y="2995613"/>
            <a:ext cx="336181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VPN d'administration sans MFA, pas le phishing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819150" y="4201319"/>
            <a:ext cx="5118100" cy="0"/>
          </a:xfrm>
          <a:prstGeom prst="straightConnector1">
            <a:avLst/>
          </a:prstGeom>
          <a:noFill/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971550" y="3657203"/>
            <a:ext cx="144780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520950" y="3657203"/>
            <a:ext cx="336181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23 serveurs sur 40 chiffrés, sauvegardes neutralisées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71550" y="4318794"/>
            <a:ext cx="144780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État au J2 14:41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520950" y="4318794"/>
            <a:ext cx="336181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Attaque confirmée, DSI aligné, cinq questions ouvertes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251575" y="1522016"/>
            <a:ext cx="5124450" cy="1001911"/>
          </a:xfrm>
          <a:prstGeom prst="roundRect">
            <a:avLst>
              <a:gd fmla="val 348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32550" y="1677591"/>
            <a:ext cx="49053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Fiche_tracabilite_Day1.docx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32550" y="1941711"/>
            <a:ext cx="490537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Jour 1 · 6 fiches de traçabilité (A-11, A-01, A-19, A-02, A-17, A-05) et 1 fiche d'événement « .mirage » · collecte du 23/09/2026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51575" y="2631877"/>
            <a:ext cx="5124450" cy="1001911"/>
          </a:xfrm>
          <a:prstGeom prst="roundRect">
            <a:avLst>
              <a:gd fmla="val 348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432550" y="2787452"/>
            <a:ext cx="49053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Tracabilite_JOUR2.docx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432550" y="3051572"/>
            <a:ext cx="490537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Jour 2 · 15 fiches (A-13 présente deux fois) et la chronologie A-04 / A-13 · collecte du 24/09/2026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51575" y="3741738"/>
            <a:ext cx="5124450" cy="1001911"/>
          </a:xfrm>
          <a:prstGeom prst="roundRect">
            <a:avLst>
              <a:gd fmla="val 348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432550" y="3897313"/>
            <a:ext cx="490537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fil-de-la-journee-soc-simple.docx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32550" y="4161433"/>
            <a:ext cx="490537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35 annonces horodatées (14 au J1, 21 au J2) et le bilan de J2 14:41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Règle retenue : en cas de désaccord, la fiche de traçabilité fait foi sur le fil des annonces.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· DONNÉES EXTRAITES · TABLEAU DE BORD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Vue d'ensemble : l'impact mesuré par les pièces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15975" y="1420416"/>
            <a:ext cx="10560050" cy="410170"/>
          </a:xfrm>
          <a:prstGeom prst="roundRect">
            <a:avLst>
              <a:gd fmla="val 85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46150" y="1518841"/>
            <a:ext cx="480348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cybershield › dashboards › </a:t>
            </a:r>
            <a:r>
              <a:rPr b="0" i="0" lang="en-US" sz="1200" u="none" cap="none" strike="noStrike">
                <a:solidFill>
                  <a:srgbClr val="E4E9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incident_mirage_overview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180487" y="1490266"/>
            <a:ext cx="1611908" cy="270470"/>
          </a:xfrm>
          <a:prstGeom prst="roundRect">
            <a:avLst>
              <a:gd fmla="val 8217" name="adj"/>
            </a:avLst>
          </a:prstGeom>
          <a:noFill/>
          <a:ln cap="flat" cmpd="sng" w="9525">
            <a:solidFill>
              <a:srgbClr val="2F3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285262" y="1518841"/>
            <a:ext cx="145315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Période : J-21 → J2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874945" y="1490266"/>
            <a:ext cx="1367730" cy="270470"/>
          </a:xfrm>
          <a:prstGeom prst="roundRect">
            <a:avLst>
              <a:gd fmla="val 8217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9979720" y="1518841"/>
            <a:ext cx="12089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D9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D9A6"/>
                </a:solidFill>
                <a:latin typeface="Inter"/>
                <a:ea typeface="Inter"/>
                <a:cs typeface="Inter"/>
                <a:sym typeface="Inter"/>
              </a:rPr>
              <a:t>Données réelles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5975" y="1989336"/>
            <a:ext cx="2546350" cy="1139031"/>
          </a:xfrm>
          <a:prstGeom prst="roundRect">
            <a:avLst>
              <a:gd fmla="val 306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971550" y="2106811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Serveurs chiffrés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71550" y="2345531"/>
            <a:ext cx="230225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6B6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6F"/>
                </a:solidFill>
                <a:latin typeface="Inter"/>
                <a:ea typeface="Inter"/>
                <a:cs typeface="Inter"/>
                <a:sym typeface="Inter"/>
              </a:rPr>
              <a:t>23 / 40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71550" y="2797572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57,5 % du parc · A-13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470275" y="1989336"/>
            <a:ext cx="2546350" cy="1139031"/>
          </a:xfrm>
          <a:prstGeom prst="roundRect">
            <a:avLst>
              <a:gd fmla="val 306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625850" y="2106811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Données exfiltrées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25850" y="2345531"/>
            <a:ext cx="230225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6B6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6B6F"/>
                </a:solidFill>
                <a:latin typeface="Inter"/>
                <a:ea typeface="Inter"/>
                <a:cs typeface="Inter"/>
                <a:sym typeface="Inter"/>
              </a:rPr>
              <a:t>117,8 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25850" y="2797572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10 nuits · A-03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15975" y="3236317"/>
            <a:ext cx="2546350" cy="1139031"/>
          </a:xfrm>
          <a:prstGeom prst="roundRect">
            <a:avLst>
              <a:gd fmla="val 306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71550" y="3353792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Sessions C2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71550" y="3592513"/>
            <a:ext cx="230225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9D5C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9D5C"/>
                </a:solidFill>
                <a:latin typeface="Inter"/>
                <a:ea typeface="Inter"/>
                <a:cs typeface="Inter"/>
                <a:sym typeface="Inter"/>
              </a:rPr>
              <a:t>2 118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71550" y="4044553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J-3 → J-1 · A-09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470275" y="3236317"/>
            <a:ext cx="2546350" cy="1139031"/>
          </a:xfrm>
          <a:prstGeom prst="roundRect">
            <a:avLst>
              <a:gd fmla="val 306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25850" y="3353792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Présence attaquant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625850" y="3592513"/>
            <a:ext cx="230225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9D5C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FF9D5C"/>
                </a:solidFill>
                <a:latin typeface="Inter"/>
                <a:ea typeface="Inter"/>
                <a:cs typeface="Inter"/>
                <a:sym typeface="Inter"/>
              </a:rPr>
              <a:t>≥ 21 j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625850" y="4044553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1er accès VPN J-21 · A-02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15975" y="4483298"/>
            <a:ext cx="2546350" cy="1139031"/>
          </a:xfrm>
          <a:prstGeom prst="roundRect">
            <a:avLst>
              <a:gd fmla="val 306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971550" y="4600773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Pièces probantes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71550" y="4839494"/>
            <a:ext cx="230225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6CB6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6CB6FF"/>
                </a:solidFill>
                <a:latin typeface="Inter"/>
                <a:ea typeface="Inter"/>
                <a:cs typeface="Inter"/>
                <a:sym typeface="Inter"/>
              </a:rPr>
              <a:t>9 / 21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71550" y="5291534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12 écartées au triage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470275" y="4483298"/>
            <a:ext cx="2546350" cy="1139031"/>
          </a:xfrm>
          <a:prstGeom prst="roundRect">
            <a:avLst>
              <a:gd fmla="val 306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625850" y="4600773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Techniques ATT&amp;CK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625850" y="4839494"/>
            <a:ext cx="2302256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6CB6FF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6CB6F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25850" y="5291534"/>
            <a:ext cx="23022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dont 10 dans la chaîne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175375" y="1989336"/>
            <a:ext cx="5200650" cy="1762522"/>
          </a:xfrm>
          <a:prstGeom prst="roundRect">
            <a:avLst>
              <a:gd fmla="val 1982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6330950" y="2272506"/>
            <a:ext cx="503618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Verdicts des 21 fiches de traçabilité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30950" y="2600127"/>
            <a:ext cx="1130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Preuve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512050" y="2611537"/>
            <a:ext cx="3352800" cy="190500"/>
          </a:xfrm>
          <a:prstGeom prst="roundRect">
            <a:avLst>
              <a:gd fmla="val 13333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512050" y="2611537"/>
            <a:ext cx="1436886" cy="1905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0915650" y="2600127"/>
            <a:ext cx="304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330950" y="2927747"/>
            <a:ext cx="1130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Bruit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512050" y="2939157"/>
            <a:ext cx="3352800" cy="190500"/>
          </a:xfrm>
          <a:prstGeom prst="roundRect">
            <a:avLst>
              <a:gd fmla="val 13333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7512050" y="2939157"/>
            <a:ext cx="1277243" cy="190500"/>
          </a:xfrm>
          <a:prstGeom prst="rect">
            <a:avLst/>
          </a:prstGeom>
          <a:solidFill>
            <a:srgbClr val="5B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0915650" y="2927747"/>
            <a:ext cx="304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330950" y="3255367"/>
            <a:ext cx="1130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Fausse piste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512050" y="3266777"/>
            <a:ext cx="3352800" cy="190500"/>
          </a:xfrm>
          <a:prstGeom prst="roundRect">
            <a:avLst>
              <a:gd fmla="val 13333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512050" y="3266777"/>
            <a:ext cx="638671" cy="190500"/>
          </a:xfrm>
          <a:prstGeom prst="rect">
            <a:avLst/>
          </a:prstGeom>
          <a:solidFill>
            <a:srgbClr val="E8B1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0915650" y="3255367"/>
            <a:ext cx="304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175375" y="3859808"/>
            <a:ext cx="5200650" cy="1762522"/>
          </a:xfrm>
          <a:prstGeom prst="roundRect">
            <a:avLst>
              <a:gd fmla="val 1982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330950" y="4135338"/>
            <a:ext cx="503618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État des 40 serveurs · SCCM, J2 10:00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330950" y="4462959"/>
            <a:ext cx="2811463" cy="2794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9142413" y="4462959"/>
            <a:ext cx="244475" cy="279400"/>
          </a:xfrm>
          <a:prstGeom prst="rect">
            <a:avLst/>
          </a:prstGeom>
          <a:solidFill>
            <a:srgbClr val="F18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9386888" y="4462959"/>
            <a:ext cx="366713" cy="279400"/>
          </a:xfrm>
          <a:prstGeom prst="rect">
            <a:avLst/>
          </a:prstGeom>
          <a:solidFill>
            <a:srgbClr val="65A6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753600" y="4462959"/>
            <a:ext cx="1466850" cy="279400"/>
          </a:xfrm>
          <a:prstGeom prst="rect">
            <a:avLst/>
          </a:prstGeom>
          <a:solidFill>
            <a:srgbClr val="2F3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330950" y="4899819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521450" y="4856659"/>
            <a:ext cx="93692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Chiffrés : 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8807450" y="4899819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F18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997950" y="4856659"/>
            <a:ext cx="8090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Partiels :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330950" y="5176639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65A6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6521450" y="5133479"/>
            <a:ext cx="114210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Intacts cités :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807450" y="5176639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2F3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8997950" y="5133479"/>
            <a:ext cx="127287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Non détaillés :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Aucune donnée de démonstration sur cette vue · « Intacts cités » compte SCADA-HMI-* comme un seul groupe · Risk Score numérique : 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 · INCIDENTS IDENTIFIÉS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Un incident majeur, quatre dossiers distincts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4"/>
          <p:cNvGraphicFramePr/>
          <p:nvPr/>
        </p:nvGraphicFramePr>
        <p:xfrm>
          <a:off x="812800" y="1518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1267975"/>
                <a:gridCol w="3592575"/>
                <a:gridCol w="1267975"/>
                <a:gridCol w="2324600"/>
                <a:gridCol w="2113275"/>
              </a:tblGrid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Incident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Sévérité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Statut au J2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300"/>
                        <a:buFont typeface="Inter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Pièces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INC-001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Rançongiciel MIRAGE via compte prestataire svc_oasisnet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Critique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 investigation, chiffrement actif au J1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A-01 A-02 A-03 A-05 A-09 A-10 A-12 A-13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INC-002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Campagne de phishing « migration de messagerie »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Élevée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 investigation, au moins un mot de passe saisi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A-11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INC-003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Fraude au président, virement de 480 000 MAD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Élevée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Contenu, virement bloqué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A-23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INC-004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Compte d'un ex-DSI encore actif via jeton mobile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Moyenne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Ouvert, révocation à faire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A-15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INC-005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Clé USB piégée « HELPDESK » sur le parking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Faible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Contenu, jamais branchée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300"/>
                        <a:buFont typeface="Inter"/>
                        <a:buNone/>
                      </a:pPr>
                      <a:r>
                        <a:rPr lang="en-US" sz="13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A-19</a:t>
                      </a:r>
                      <a:endParaRPr sz="13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Les rapports ne numérotent pas les incidents : identifiants et sévérités sont une qualification proposée, à valider · Analyste assigné : 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INVESTIGATION · CHRONOLOGIE DE L'ATTAQUE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Chronologie reconstituée, de J-21 à J2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5"/>
          <p:cNvGraphicFramePr/>
          <p:nvPr/>
        </p:nvGraphicFramePr>
        <p:xfrm>
          <a:off x="812800" y="1468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1373625"/>
                <a:gridCol w="6022850"/>
                <a:gridCol w="1584950"/>
                <a:gridCol w="1584950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Quand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Événement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Pièces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ATT&amp;CK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J-21 02:04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1re session VPN puis RDP de svc_oasisnet, de nuit, sans MFA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A-02 A-10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T1078 T1133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J-11 02:03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Règle pare-feu OUT-TEMP-443 créée, journalisation coupée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T1562.004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J-10 → J-1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117,8 Go exfiltrés vers 45.137.184.62 entre 02:00 et 05:00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T1041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J-3 01:12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Rétention Veeam modifiée : sauvegardes ignorées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T1490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J-3 → J-1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2 118 sessions de balise C2, une toutes les 60 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T1071.001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J-1 03:12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Mirage.A exécuté sur FIN-112, puis 23 serveurs sur 40 chiffrés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A-01 A-12 A-13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T1486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J1 06:41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Phishing « migration de messagerie » vers la finance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T1566.002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J1 11:17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Premier signal du SOC : campagne de phishing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J1 11:52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Rançongiciel confirmé par le journal EDR de FIN-112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J2 10:00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Inventaire d'impact : 23 serveurs chiffrés sur 40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Horodatages relatifs (J-n) tels que fournis : aucune date absolue de l'incident dans les rapports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 EVENTS · RECHERCHE SIEM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J-1, de 03:11 à 03:16, seconde par seconde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15975" y="1420416"/>
            <a:ext cx="10560050" cy="435570"/>
          </a:xfrm>
          <a:prstGeom prst="roundRect">
            <a:avLst>
              <a:gd fmla="val 8018" name="adj"/>
            </a:avLst>
          </a:prstGeom>
          <a:solidFill>
            <a:srgbClr val="161C22"/>
          </a:solidFill>
          <a:ln cap="flat" cmpd="sng" w="9525">
            <a:solidFill>
              <a:srgbClr val="2F3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arch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50" y="1549301"/>
            <a:ext cx="1778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1225550" y="1531541"/>
            <a:ext cx="499173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index=wineventlog Account=svc_oasisnet OR admin_local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985151" y="1502966"/>
            <a:ext cx="2257524" cy="270470"/>
          </a:xfrm>
          <a:prstGeom prst="roundRect">
            <a:avLst>
              <a:gd fmla="val 8217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9089926" y="1531541"/>
            <a:ext cx="210941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D9A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D9A6"/>
                </a:solidFill>
                <a:latin typeface="Inter"/>
                <a:ea typeface="Inter"/>
                <a:cs typeface="Inter"/>
                <a:sym typeface="Inter"/>
              </a:rPr>
              <a:t>10 événements · A-10 + A-12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6"/>
          <p:cNvGraphicFramePr/>
          <p:nvPr/>
        </p:nvGraphicFramePr>
        <p:xfrm>
          <a:off x="812800" y="2011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1479300"/>
                <a:gridCol w="1796300"/>
                <a:gridCol w="5600200"/>
                <a:gridCol w="169062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_time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événement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technique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Splunk · 4672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Privilèges spéciaux attribués à svc_oasisnet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03:12:09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svhost32.exe lancé par services.exe, non signé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T1036.005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03:12:41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DisableRealtimeMonitoring = 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T1562.001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03:13:02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Lecture de 9 412 fichiers (docx, xlsx, pdf, dwg, dbf)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—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03:14:31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Connexion à 45.137.184.62:443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T1071.001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03:15:03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Fichiers renommés en *.mirage sur 14 partages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T1486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03:15:07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vssadmin, bcdedit et wbadmin en 2 secondes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T1490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03:15:22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Arrêt forcé du service WinDefend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T1562.001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03:15:40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Defender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LISEZMOI_MIRAGE.txt déposé 14 fois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T1486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03:16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Splunk · 1102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Journal de sécurité Windows effacé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T1070.001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Requête reprise de A-10 (Splunk ES) · événements Defender issus de la chronologie A-12 · la centralisation SIEM a survécu à l'effacement 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THREATS · EXFILTRATION ET COMMANDE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117,8 Go sortis sous un faux nom de stockage cloud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15975" y="1420416"/>
            <a:ext cx="2559050" cy="1085751"/>
          </a:xfrm>
          <a:prstGeom prst="roundRect">
            <a:avLst>
              <a:gd fmla="val 3217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971550" y="153789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Volume exfiltré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71550" y="1776611"/>
            <a:ext cx="2315337" cy="39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6B6F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FF6B6F"/>
                </a:solidFill>
                <a:latin typeface="Inter"/>
                <a:ea typeface="Inter"/>
                <a:cs typeface="Inter"/>
                <a:sym typeface="Inter"/>
              </a:rPr>
              <a:t>117,8 Go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71550" y="217537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proxy Zscaler · A-03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482975" y="1420416"/>
            <a:ext cx="2559050" cy="1085751"/>
          </a:xfrm>
          <a:prstGeom prst="roundRect">
            <a:avLst>
              <a:gd fmla="val 3217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638550" y="153789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Par nuit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638550" y="1776611"/>
            <a:ext cx="2315337" cy="39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9D5C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FF9D5C"/>
                </a:solidFill>
                <a:latin typeface="Inter"/>
                <a:ea typeface="Inter"/>
                <a:cs typeface="Inter"/>
                <a:sym typeface="Inter"/>
              </a:rPr>
              <a:t>9,3 – 14 Go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638550" y="217537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02:00 – 04:55 · A-03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149975" y="1420416"/>
            <a:ext cx="2559050" cy="1085751"/>
          </a:xfrm>
          <a:prstGeom prst="roundRect">
            <a:avLst>
              <a:gd fmla="val 3217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6305550" y="153789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Sessions C2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305550" y="1776611"/>
            <a:ext cx="2315337" cy="39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9D5C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FF9D5C"/>
                </a:solidFill>
                <a:latin typeface="Inter"/>
                <a:ea typeface="Inter"/>
                <a:cs typeface="Inter"/>
                <a:sym typeface="Inter"/>
              </a:rPr>
              <a:t>2 118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305550" y="217537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J-3 → J-1 · A-09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816975" y="1420416"/>
            <a:ext cx="2559050" cy="1085751"/>
          </a:xfrm>
          <a:prstGeom prst="roundRect">
            <a:avLst>
              <a:gd fmla="val 3217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972550" y="153789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Balise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972550" y="1776611"/>
            <a:ext cx="2315337" cy="39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6CB6FF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6CB6FF"/>
                </a:solidFill>
                <a:latin typeface="Inter"/>
                <a:ea typeface="Inter"/>
                <a:cs typeface="Inter"/>
                <a:sym typeface="Inter"/>
              </a:rPr>
              <a:t>60 s ± 10 %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972550" y="2175371"/>
            <a:ext cx="23153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JA3 identique · A-03, A-09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15975" y="2664916"/>
            <a:ext cx="5200650" cy="2483247"/>
          </a:xfrm>
          <a:prstGeom prst="roundRect">
            <a:avLst>
              <a:gd fmla="val 140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84250" y="2807791"/>
            <a:ext cx="501002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Volumes sortis selon la source (Go)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84250" y="3110012"/>
            <a:ext cx="501002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Proxy vers 45.137.184.62 · A-03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984250" y="3423642"/>
            <a:ext cx="4203700" cy="190500"/>
          </a:xfrm>
          <a:prstGeom prst="roundRect">
            <a:avLst>
              <a:gd fmla="val 13333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984250" y="3423642"/>
            <a:ext cx="4203700" cy="190500"/>
          </a:xfrm>
          <a:prstGeom prst="rect">
            <a:avLst/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226050" y="3412232"/>
            <a:ext cx="622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117,8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84250" y="3714452"/>
            <a:ext cx="501002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Tunnel VPN svc_oasisnet · A-02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84250" y="4028083"/>
            <a:ext cx="4203700" cy="190500"/>
          </a:xfrm>
          <a:prstGeom prst="roundRect">
            <a:avLst>
              <a:gd fmla="val 13333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984250" y="4028083"/>
            <a:ext cx="2101850" cy="190500"/>
          </a:xfrm>
          <a:prstGeom prst="rect">
            <a:avLst/>
          </a:prstGeom>
          <a:solidFill>
            <a:srgbClr val="F18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226050" y="4016673"/>
            <a:ext cx="622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12,5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84250" y="4318893"/>
            <a:ext cx="501002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Copie USB de la paie, légitime · A-17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84250" y="4632523"/>
            <a:ext cx="4203700" cy="190500"/>
          </a:xfrm>
          <a:prstGeom prst="roundRect">
            <a:avLst>
              <a:gd fmla="val 13333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984250" y="4632523"/>
            <a:ext cx="25400" cy="190500"/>
          </a:xfrm>
          <a:prstGeom prst="rect">
            <a:avLst/>
          </a:prstGeom>
          <a:solidFill>
            <a:srgbClr val="65A6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226050" y="4621113"/>
            <a:ext cx="6223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0,044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175375" y="2664916"/>
            <a:ext cx="5200650" cy="2483247"/>
          </a:xfrm>
          <a:prstGeom prst="roundRect">
            <a:avLst>
              <a:gd fmla="val 1406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6343650" y="2807791"/>
            <a:ext cx="5010023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Compte svc_oasisnet : profil attendu contre observé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7"/>
          <p:cNvGraphicFramePr/>
          <p:nvPr/>
        </p:nvGraphicFramePr>
        <p:xfrm>
          <a:off x="6343650" y="3110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1264675"/>
                <a:gridCol w="1459225"/>
                <a:gridCol w="2140200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Critère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Attendu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Observé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Horaires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09:00 – 18:00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01:57 – 05:01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MFA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Absent, 8 sessions sur 8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Plages OasisNet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IP hors du pays habituel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RDP nocturnes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Aucun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Plus de 90 en 21 jours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SNI cdn-sync-eu.storage-blob[.]net · les 12,5 Go VPN ne mesurent que le tunnel ; les 117,8 Go du proxy sont l'exfiltration réelle (A-03)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 · ASSETS IDENTIFIÉS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Ce qui dépendait du domaine est tombé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12800" y="1460401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E548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003300" y="1417241"/>
            <a:ext cx="16093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Chiffré ou compromis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739628" y="1460401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F181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2930128" y="1417241"/>
            <a:ext cx="5060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Partiel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563144" y="1460401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65A6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753644" y="1417241"/>
            <a:ext cx="45491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Intact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335562" y="1460401"/>
            <a:ext cx="127000" cy="127000"/>
          </a:xfrm>
          <a:prstGeom prst="roundRect">
            <a:avLst>
              <a:gd fmla="val 15000" name="adj"/>
            </a:avLst>
          </a:prstGeom>
          <a:solidFill>
            <a:srgbClr val="5B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526062" y="1417241"/>
            <a:ext cx="189132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Légitime, écarté au triage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15975" y="1786136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920750" y="1878211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PAIE-01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920750" y="2116931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Paie bloquée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2591792" y="1786136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2696567" y="1878211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FACT-02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696567" y="2116931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Facturation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367709" y="1786136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472484" y="1878211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FILER-RBT-02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472484" y="2116931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Note de rançon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6143526" y="1786136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6248301" y="1878211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FILER-CASA-01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248301" y="2116931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Partages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7919442" y="1786136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8024217" y="1878211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ERP-APP-01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024217" y="2116931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ERP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9695359" y="1786136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9800134" y="1878211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ERP-DB-01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9800134" y="2116931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Base ERP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815975" y="2517577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920750" y="260965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+17 serveurs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920750" y="284837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Noms non fournis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2591792" y="2517577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B2112"/>
          </a:solidFill>
          <a:ln cap="flat" cmpd="sng" w="9525">
            <a:solidFill>
              <a:srgbClr val="6B4B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2696567" y="260965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070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B0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MSG-01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2696567" y="284837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Messagerie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367709" y="2517577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B2112"/>
          </a:solidFill>
          <a:ln cap="flat" cmpd="sng" w="9525">
            <a:solidFill>
              <a:srgbClr val="6B4B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472484" y="260965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B070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B07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DC-01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472484" y="284837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AD dégradé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143526" y="2517577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13241A"/>
          </a:solidFill>
          <a:ln cap="flat" cmpd="sng" w="9525">
            <a:solidFill>
              <a:srgbClr val="2F5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248301" y="260965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DC-02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248301" y="284837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À auditer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7919442" y="2517577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13241A"/>
          </a:solidFill>
          <a:ln cap="flat" cmpd="sng" w="9525">
            <a:solidFill>
              <a:srgbClr val="2F5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8024217" y="260965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WEB-PUB-01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024217" y="284837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Hors domaine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695359" y="2517577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13241A"/>
          </a:solidFill>
          <a:ln cap="flat" cmpd="sng" w="9525">
            <a:solidFill>
              <a:srgbClr val="2F5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9800134" y="260965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SCADA-HMI-*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9800134" y="284837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OT isolé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815975" y="3249017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20750" y="334109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FIN-112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20750" y="357981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Poste initial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2591792" y="3249017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2696567" y="334109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FGT-RBT-01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2696567" y="357981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Règle C2 ajoutée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367709" y="3249017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4472484" y="334109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VBR-01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472484" y="357981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Rétention sabotée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143526" y="3249017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248301" y="334109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BKP-01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248301" y="357981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Injoignable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7919442" y="3249017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8024217" y="3341092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BKP-02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024217" y="357981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Injoignable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695359" y="3249017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9800134" y="3341092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RH-031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9800134" y="357981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Adware ancien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15975" y="3980458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920750" y="407253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PAIE-STA-3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920750" y="431125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Ticket #4471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2591792" y="3980458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2696567" y="407253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PC-COMPTA-14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696567" y="431125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Support N1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367709" y="3980458"/>
            <a:ext cx="1680567" cy="636191"/>
          </a:xfrm>
          <a:prstGeom prst="roundRect">
            <a:avLst>
              <a:gd fmla="val 549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472484" y="407253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IT-ADMIN-02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4472484" y="4311253"/>
            <a:ext cx="152181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PsExec, #4502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143526" y="3980458"/>
            <a:ext cx="1680666" cy="636191"/>
          </a:xfrm>
          <a:prstGeom prst="roundRect">
            <a:avLst>
              <a:gd fmla="val 549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248301" y="407253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SRV-BUILD-02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248301" y="4311253"/>
            <a:ext cx="152191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7-Zip, faux positif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Sources : A-01, A-05, A-09, A-13, fiches de triage · adresse IP, OS et criticité métier : non fournis, affichés 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 · THREAT INTELLIGENCE · IOC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Indicateurs de compromission extraits des fiches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9"/>
          <p:cNvGraphicFramePr/>
          <p:nvPr/>
        </p:nvGraphicFramePr>
        <p:xfrm>
          <a:off x="812800" y="1442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1162300"/>
                <a:gridCol w="3909575"/>
                <a:gridCol w="3592575"/>
                <a:gridCol w="1901950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Valeur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Rôle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Pièces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IP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45.137.184.62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C2 et destination d'exfiltration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A-01 A-03 A-09 A-12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IP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196.200.114.41 · 102.118.53.17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Sources VPN de l'attaquant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IP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193.42.55.108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Serveur d'envoi du phishing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Domaine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atlasgrid-it.info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Typosquatting de atlasgrid.ma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URL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hxxps://atlasgrid-it[.]info/owa/login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Faux portail OWA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Domaine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cdn-sync-eu.storage-blob[.]net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SNI de l'exfiltration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Domaine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07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B0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atlasgrid-finance.co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Sosie de la fraude BEC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Fichier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C:\Windows\svhost32.exe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Mirage.A, hash non fourni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A-01 A-12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Artefact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*.mirage · LISEZMOI_MIRAGE.txt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Extension et note de rançon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A-04 A-12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TLS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JA3 a0e9f5d2b3c1e847f6… (tronqué)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Empreinte de l'implant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A-03 A-09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8A8E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8A8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svc_oasisnet · admin_local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Comptes compromis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A-02 A-10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Hash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070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B07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c1d55a…9b20 (tronqué)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HelpDesk.exe, clé USB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Réputation VirusTotal, AbuseIPDB ou OTX : absente des rapports, affichée N/A · seul 7z.exe a un résultat VirusTotal (0/72, bénin, A-22)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 · MITRE ATT&amp;CK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13 techniques citées, 10 dans la chaîne MIRAGE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0"/>
          <p:cNvCxnSpPr/>
          <p:nvPr/>
        </p:nvCxnSpPr>
        <p:spPr>
          <a:xfrm>
            <a:off x="812800" y="1738511"/>
            <a:ext cx="1693267" cy="0"/>
          </a:xfrm>
          <a:prstGeom prst="straightConnector1">
            <a:avLst/>
          </a:prstGeom>
          <a:noFill/>
          <a:ln cap="flat" cmpd="sng" w="12700">
            <a:solidFill>
              <a:srgbClr val="65A6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0"/>
          <p:cNvSpPr/>
          <p:nvPr/>
        </p:nvSpPr>
        <p:spPr>
          <a:xfrm>
            <a:off x="812800" y="1468041"/>
            <a:ext cx="17440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ACCÈS INITIAL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15975" y="1824236"/>
            <a:ext cx="1686917" cy="852091"/>
          </a:xfrm>
          <a:prstGeom prst="roundRect">
            <a:avLst>
              <a:gd fmla="val 4099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920750" y="1916311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T1078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920750" y="2155031"/>
            <a:ext cx="152816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Valid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920750" y="2370931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815975" y="2758877"/>
            <a:ext cx="1686917" cy="1042591"/>
          </a:xfrm>
          <a:prstGeom prst="roundRect">
            <a:avLst>
              <a:gd fmla="val 335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920750" y="285095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T1133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920750" y="3089672"/>
            <a:ext cx="1528167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External Remote Services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920750" y="349607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0"/>
          <p:cNvCxnSpPr/>
          <p:nvPr/>
        </p:nvCxnSpPr>
        <p:spPr>
          <a:xfrm>
            <a:off x="2607667" y="1738511"/>
            <a:ext cx="3386733" cy="0"/>
          </a:xfrm>
          <a:prstGeom prst="straightConnector1">
            <a:avLst/>
          </a:prstGeom>
          <a:noFill/>
          <a:ln cap="flat" cmpd="sng" w="12700">
            <a:solidFill>
              <a:srgbClr val="65A6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0"/>
          <p:cNvSpPr/>
          <p:nvPr/>
        </p:nvSpPr>
        <p:spPr>
          <a:xfrm>
            <a:off x="2607667" y="1468041"/>
            <a:ext cx="348833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ÉVASION DÉFENSIVE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2610842" y="1824236"/>
            <a:ext cx="1648916" cy="1042591"/>
          </a:xfrm>
          <a:prstGeom prst="roundRect">
            <a:avLst>
              <a:gd fmla="val 335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2715617" y="1916311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T1036.005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715617" y="2155031"/>
            <a:ext cx="1490166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Masquerading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2715617" y="2370931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342309" y="1824236"/>
            <a:ext cx="1648916" cy="1042591"/>
          </a:xfrm>
          <a:prstGeom prst="roundRect">
            <a:avLst>
              <a:gd fmla="val 335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4447084" y="1916311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T1562.001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447084" y="2155031"/>
            <a:ext cx="149016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Disable or Modify Tools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447084" y="2561431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2610842" y="2949377"/>
            <a:ext cx="1648916" cy="1042591"/>
          </a:xfrm>
          <a:prstGeom prst="roundRect">
            <a:avLst>
              <a:gd fmla="val 335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2715617" y="3041452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T1562.004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2715617" y="3280172"/>
            <a:ext cx="149016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Modify System Firewall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2715617" y="3686572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342309" y="2949377"/>
            <a:ext cx="1648916" cy="1042591"/>
          </a:xfrm>
          <a:prstGeom prst="roundRect">
            <a:avLst>
              <a:gd fmla="val 335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4447084" y="3041452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T1070.001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447084" y="3280172"/>
            <a:ext cx="149016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Clear Windows Event Logs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4447084" y="3686572"/>
            <a:ext cx="14901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0"/>
          <p:cNvCxnSpPr/>
          <p:nvPr/>
        </p:nvCxnSpPr>
        <p:spPr>
          <a:xfrm>
            <a:off x="6096000" y="1738511"/>
            <a:ext cx="1693267" cy="0"/>
          </a:xfrm>
          <a:prstGeom prst="straightConnector1">
            <a:avLst/>
          </a:prstGeom>
          <a:noFill/>
          <a:ln cap="flat" cmpd="sng" w="12700">
            <a:solidFill>
              <a:srgbClr val="65A6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0"/>
          <p:cNvSpPr/>
          <p:nvPr/>
        </p:nvSpPr>
        <p:spPr>
          <a:xfrm>
            <a:off x="6096000" y="1468041"/>
            <a:ext cx="17440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C2 · EXFIL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099175" y="1824236"/>
            <a:ext cx="1686917" cy="852091"/>
          </a:xfrm>
          <a:prstGeom prst="roundRect">
            <a:avLst>
              <a:gd fmla="val 4099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6203950" y="1916311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T1071.001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6203950" y="2155031"/>
            <a:ext cx="152816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Web Protocols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203950" y="2370931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099175" y="2758877"/>
            <a:ext cx="1686917" cy="1042591"/>
          </a:xfrm>
          <a:prstGeom prst="roundRect">
            <a:avLst>
              <a:gd fmla="val 335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6203950" y="285095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T1041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203950" y="3089672"/>
            <a:ext cx="1528167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Exfiltration Over C2 Channel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6203950" y="349607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>
            <a:off x="7890867" y="1738511"/>
            <a:ext cx="1693366" cy="0"/>
          </a:xfrm>
          <a:prstGeom prst="straightConnector1">
            <a:avLst/>
          </a:prstGeom>
          <a:noFill/>
          <a:ln cap="flat" cmpd="sng" w="12700">
            <a:solidFill>
              <a:srgbClr val="E5484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10"/>
          <p:cNvSpPr/>
          <p:nvPr/>
        </p:nvSpPr>
        <p:spPr>
          <a:xfrm>
            <a:off x="7890867" y="1468041"/>
            <a:ext cx="1744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7894042" y="1824236"/>
            <a:ext cx="1687016" cy="1042591"/>
          </a:xfrm>
          <a:prstGeom prst="roundRect">
            <a:avLst>
              <a:gd fmla="val 335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7998817" y="1916311"/>
            <a:ext cx="15282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T1486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7998817" y="2155031"/>
            <a:ext cx="152826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Data Encrypted for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7998817" y="2561431"/>
            <a:ext cx="15282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3A4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A3A4"/>
                </a:solidFill>
                <a:latin typeface="Inter"/>
                <a:ea typeface="Inter"/>
                <a:cs typeface="Inter"/>
                <a:sym typeface="Inter"/>
              </a:rPr>
              <a:t>3 fiches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7894042" y="2949377"/>
            <a:ext cx="1687016" cy="1042591"/>
          </a:xfrm>
          <a:prstGeom prst="roundRect">
            <a:avLst>
              <a:gd fmla="val 3350" name="adj"/>
            </a:avLst>
          </a:prstGeom>
          <a:solidFill>
            <a:srgbClr val="2A1416"/>
          </a:solidFill>
          <a:ln cap="flat" cmpd="sng" w="9525">
            <a:solidFill>
              <a:srgbClr val="6E2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7998817" y="3041452"/>
            <a:ext cx="15282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A8E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FF8A8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T1490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7998817" y="3280172"/>
            <a:ext cx="1528266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Inhibit System Recovery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7998817" y="3686572"/>
            <a:ext cx="152826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A3A4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A3A4"/>
                </a:solidFill>
                <a:latin typeface="Inter"/>
                <a:ea typeface="Inter"/>
                <a:cs typeface="Inter"/>
                <a:sym typeface="Inter"/>
              </a:rPr>
              <a:t>A-05 A-12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0"/>
          <p:cNvCxnSpPr/>
          <p:nvPr/>
        </p:nvCxnSpPr>
        <p:spPr>
          <a:xfrm>
            <a:off x="9685834" y="1738511"/>
            <a:ext cx="1693267" cy="0"/>
          </a:xfrm>
          <a:prstGeom prst="straightConnector1">
            <a:avLst/>
          </a:prstGeom>
          <a:noFill/>
          <a:ln cap="flat" cmpd="sng" w="12700">
            <a:solidFill>
              <a:srgbClr val="5B6B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0"/>
          <p:cNvSpPr/>
          <p:nvPr/>
        </p:nvSpPr>
        <p:spPr>
          <a:xfrm>
            <a:off x="9685834" y="1468041"/>
            <a:ext cx="17440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HORS CHAÎNE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9689009" y="1824236"/>
            <a:ext cx="1686917" cy="852091"/>
          </a:xfrm>
          <a:prstGeom prst="roundRect">
            <a:avLst>
              <a:gd fmla="val 4099" name="adj"/>
            </a:avLst>
          </a:prstGeom>
          <a:solidFill>
            <a:srgbClr val="12171C"/>
          </a:solidFill>
          <a:ln cap="flat" cmpd="sng" w="9525">
            <a:solidFill>
              <a:srgbClr val="3340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9793784" y="1916311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T1566.002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9793784" y="2155031"/>
            <a:ext cx="152816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Spearphishing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9793784" y="2370931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9689009" y="2758877"/>
            <a:ext cx="1686917" cy="852091"/>
          </a:xfrm>
          <a:prstGeom prst="roundRect">
            <a:avLst>
              <a:gd fmla="val 4099" name="adj"/>
            </a:avLst>
          </a:prstGeom>
          <a:solidFill>
            <a:srgbClr val="12171C"/>
          </a:solidFill>
          <a:ln cap="flat" cmpd="sng" w="9525">
            <a:solidFill>
              <a:srgbClr val="3340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9793784" y="285095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T1091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9793784" y="3089672"/>
            <a:ext cx="152816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Removable Media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9793784" y="330557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689009" y="3693517"/>
            <a:ext cx="1686917" cy="852091"/>
          </a:xfrm>
          <a:prstGeom prst="roundRect">
            <a:avLst>
              <a:gd fmla="val 4099" name="adj"/>
            </a:avLst>
          </a:prstGeom>
          <a:solidFill>
            <a:srgbClr val="12171C"/>
          </a:solidFill>
          <a:ln cap="flat" cmpd="sng" w="9525">
            <a:solidFill>
              <a:srgbClr val="3340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9793784" y="3785592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B9C4C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T1656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9793784" y="4024313"/>
            <a:ext cx="1528167" cy="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Impersonation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9793784" y="4240213"/>
            <a:ext cx="152816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A-23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T1486 citée par A-01, la fiche « .mirage » et A-12 · T1078 relève aussi de la persistance · rattachement aux tactiques selon le référentiel ATT&amp;CK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ALERTS · TRIAGE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12 pièces sur 21 écartées, chacune par un fait vérifiable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4" name="Google Shape;364;p11"/>
          <p:cNvGraphicFramePr/>
          <p:nvPr/>
        </p:nvGraphicFramePr>
        <p:xfrm>
          <a:off x="812800" y="1442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845300"/>
                <a:gridCol w="3486900"/>
                <a:gridCol w="1584950"/>
                <a:gridCol w="464922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Pièce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Alerte initiale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Verdict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 qui l'écarte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Clé USB piégée sur le parking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Jamais branchée, DLP : aucune insertion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A-17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Bulletins de paie copiés sur USB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Ticket #4471, 44 Mo, heures ouvrées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Courriel « Migration Exchange »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Fausse piste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SPF, DKIM et DMARC valides, MTA interne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« DDoS » sur le site public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Fausse piste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 1 200 IP humaines venues d'un article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A-41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Poste « qui bouge tout seul »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Support N1, ticket HELP-3391, MFA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Scan du périmètre (Suricata)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Censys et Shodan, paquets SYN seuls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Badge au datacenter à 02:14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Fausse piste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Horodatages non fiables, stagiaire en congé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Fraude au président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Fausse piste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Vraie fraude, mais dossier distinct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A-40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Ticket OasisNet « ransomware »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Autre client, extension .lockb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Connexion depuis Paris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Déplacement, appareil connu, MFA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PsExec sur IT-ADMIN-02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Binaire Microsoft signé, ticket #4502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« Cryptominer » sur SRV-BUILD-02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Bruit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7-Zip signé, VirusTotal 0/72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</a:tbl>
          </a:graphicData>
        </a:graphic>
      </p:graphicFrame>
      <p:sp>
        <p:nvSpPr>
          <p:cNvPr id="365" name="Google Shape;365;p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Le fil classe A-19, A-22, A-25, A-26, A-40 et A-41 en « fausse piste » ; les fiches disent « bruit » et font foi · A-15 : sans fiche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· VULNÉRABILITÉS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Aucune CVE dans les rapports : neuf faiblesses de sécurité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3" name="Google Shape;373;p12"/>
          <p:cNvGraphicFramePr/>
          <p:nvPr/>
        </p:nvGraphicFramePr>
        <p:xfrm>
          <a:off x="812800" y="1468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4437900"/>
                <a:gridCol w="1373625"/>
                <a:gridCol w="1162300"/>
                <a:gridCol w="35925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Faiblesse constatée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Sévérité*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Pièces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Remédiation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MFA non appliqué au compte VPN prestataire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Critique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MFA imposé sur tous les comptes VPN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Sauvegardes modifiables, aucune copie immuable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6B6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Critique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Copie hors ligne ou immuable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Compte admin_local partagé, LAPS non vérifié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Élevée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A-01 A-10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Réinitialiser et déployer LAPS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Règle pare-feu tierce sans journalisation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Élevée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A-09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Revue des règles, droits retirés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Proxy : destinations « non classées » permises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9D5C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F9D5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Élevée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A-03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Bloquer « non classé » aux serveurs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Jetons non révoqués au départ d'un salarié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Moyenne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A-15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Révoquer sessions et jetons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Aucune alerte sur l'effacement de journal 1102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BE34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F8BE3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Moyenne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Règle SIEM sur l'événement 1102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Ports RDP 3389 et SMB 445 sondés d'Internet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À vérifier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Confirmer leur non-exposition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Caméra datacenter hors service, badgeuse non fiable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Faible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Remise en service et contrôle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</a:tbl>
          </a:graphicData>
        </a:graphic>
      </p:graphicFrame>
      <p:sp>
        <p:nvSpPr>
          <p:cNvPr id="374" name="Google Shape;374;p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*Sévérité proposée par l'analyse, à valider · CVE, CVSS et date de détection : N/A dans la page Vulnerabilities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216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· KPIs CALCULABLES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Huit KPIs calculables, deux laissés à N/A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p13"/>
          <p:cNvGraphicFramePr/>
          <p:nvPr/>
        </p:nvGraphicFramePr>
        <p:xfrm>
          <a:off x="812800" y="1468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{3851ED49-4250-462A-98FE-B3909A0E3661}</a:tableStyleId>
              </a:tblPr>
              <a:tblGrid>
                <a:gridCol w="2852925"/>
                <a:gridCol w="2007625"/>
                <a:gridCol w="4437900"/>
                <a:gridCol w="12679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Indicateur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Valeur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Calcul ou source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A1AF"/>
                        </a:buClr>
                        <a:buSzPts val="1200"/>
                        <a:buFont typeface="Inter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93A1A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32B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Serveurs chiffrés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23 / 40 (57,5 %)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A-13, inventaire SCCM J2 10:00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Données exfiltrées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117,8 Go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A-03, proxy Zscaler, J-10 → J-1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Sessions C2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2 118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A-09, pare-feu FGT-RBT-01, J-3 → J-1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Fraude bloquée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480 000 MAD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A-23, confirmé par le DSI à J2 13:16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Dernière sauvegarde fiable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J-4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A-05, Veeam VBR-01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CC45A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7CC45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Réel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Présence de l'attaquant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≥ 21 jours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J-21 (1re session VPN) → J-1 (chiffrement)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Dérivé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MTTD, impact → confirmation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≈ 32 h 40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J-1 03:12 → J1 11:52, si J-1 = veille de J1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Dérivé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Pièces écartées au triage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 / 21 (57 %)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(8 bruits + 4 fausses pistes) / 21 fiches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CB6FF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6CB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Dérivé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MTTR, taux de résolution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Aucun horaire de confinement documenté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C22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Risk Score /100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DE5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D5DD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Aucun référentiel de score dans les rapports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B6C2"/>
                        </a:buClr>
                        <a:buSzPts val="1200"/>
                        <a:buFont typeface="Inter"/>
                        <a:buNone/>
                      </a:pPr>
                      <a:r>
                        <a:rPr lang="en-US" sz="1200" u="none" cap="none" strike="noStrike">
                          <a:solidFill>
                            <a:srgbClr val="A9B6C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 sz="12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A3F4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1216"/>
                    </a:solidFill>
                  </a:tcPr>
                </a:tc>
              </a:tr>
            </a:tbl>
          </a:graphicData>
        </a:graphic>
      </p:graphicFrame>
      <p:sp>
        <p:nvSpPr>
          <p:cNvPr id="383" name="Google Shape;383;p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Risque global affiché en qualitatif « Critique » (rançongiciel actif, sauvegardes détruites, exfiltration prouvée), sans score inventé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4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 · PAGES PROPOSÉES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Quinze pages, chacune reliée à ses pièces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815975" y="1471216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946150" y="1588691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946150" y="1875631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KPIs et graphiques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946150" y="2127052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2949575" y="1471216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3079750" y="1588691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Incidents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3079750" y="1875631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5 dossiers et détail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3079750" y="2127052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083175" y="1471216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5213350" y="1588691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Alerts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5213350" y="1875631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21 signaux triés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5213350" y="2127052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7216775" y="1471216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7346950" y="1588691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Events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7346950" y="1875631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Journaux A-10, A-12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7346950" y="2127052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9350375" y="1471216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4"/>
          <p:cNvSpPr/>
          <p:nvPr/>
        </p:nvSpPr>
        <p:spPr>
          <a:xfrm>
            <a:off x="9480550" y="1588691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Investigations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9480550" y="1875631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Chaîne et corrélations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9480550" y="2127052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815975" y="2565797"/>
            <a:ext cx="2025650" cy="1199952"/>
          </a:xfrm>
          <a:prstGeom prst="roundRect">
            <a:avLst>
              <a:gd fmla="val 2911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946150" y="2683272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Threat Intel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946150" y="297021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12 IOC, réputation 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946150" y="322163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C4F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8CC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MIXTE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2949575" y="2565797"/>
            <a:ext cx="2025650" cy="1199952"/>
          </a:xfrm>
          <a:prstGeom prst="roundRect">
            <a:avLst>
              <a:gd fmla="val 2911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"/>
          <p:cNvSpPr/>
          <p:nvPr/>
        </p:nvSpPr>
        <p:spPr>
          <a:xfrm>
            <a:off x="3079750" y="2683272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Vulnerabilities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3079750" y="297021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9 faiblesses, CVE 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3079750" y="322163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C4F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8CC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MIXTE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5083175" y="2565797"/>
            <a:ext cx="2025650" cy="1199952"/>
          </a:xfrm>
          <a:prstGeom prst="roundRect">
            <a:avLst>
              <a:gd fmla="val 2911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4"/>
          <p:cNvSpPr/>
          <p:nvPr/>
        </p:nvSpPr>
        <p:spPr>
          <a:xfrm>
            <a:off x="5213350" y="2683272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Assets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213350" y="297021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21 nommés, IP N/A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213350" y="322163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C4F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8CC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MIXTE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4"/>
          <p:cNvSpPr/>
          <p:nvPr/>
        </p:nvSpPr>
        <p:spPr>
          <a:xfrm>
            <a:off x="7216775" y="2565797"/>
            <a:ext cx="2025650" cy="1199952"/>
          </a:xfrm>
          <a:prstGeom prst="roundRect">
            <a:avLst>
              <a:gd fmla="val 2911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7346950" y="2683272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MITRE ATT&amp;CK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7346950" y="297021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13 techniques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7346950" y="322163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9350375" y="2565797"/>
            <a:ext cx="2025650" cy="1199952"/>
          </a:xfrm>
          <a:prstGeom prst="roundRect">
            <a:avLst>
              <a:gd fmla="val 2911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9480550" y="2683272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Operations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9480550" y="2970213"/>
            <a:ext cx="1818259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Phase de chaque dossier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9480550" y="3434953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C4F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8CC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DÉRIVÉ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815975" y="3873698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946150" y="3991173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Automation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946150" y="427811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Playbooks simulés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946150" y="452953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C2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FFC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DÉMO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2949575" y="3873698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3079750" y="3991173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3079750" y="427811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Les 3 documents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3079750" y="452953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5083175" y="3873698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5213350" y="3991173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Audit Logs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5213350" y="427811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Chaînes de traçabilité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5213350" y="452953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7216775" y="3873698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7346950" y="3991173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Data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7346950" y="427811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Outil, date, SHA-256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7346950" y="452953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RÉEL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9350375" y="3873698"/>
            <a:ext cx="2025650" cy="986631"/>
          </a:xfrm>
          <a:prstGeom prst="roundRect">
            <a:avLst>
              <a:gd fmla="val 3540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9480550" y="3991173"/>
            <a:ext cx="181825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Executive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9480550" y="427811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1A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93A1AF"/>
                </a:solidFill>
                <a:latin typeface="Inter"/>
                <a:ea typeface="Inter"/>
                <a:cs typeface="Inter"/>
                <a:sym typeface="Inter"/>
              </a:rPr>
              <a:t>Vue direction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9480550" y="4529534"/>
            <a:ext cx="1818259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C4FF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8CC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MIXTE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D8A9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7D8A97"/>
                </a:solidFill>
                <a:latin typeface="Inter"/>
                <a:ea typeface="Inter"/>
                <a:cs typeface="Inter"/>
                <a:sym typeface="Inter"/>
              </a:rPr>
              <a:t>Plus Settings et la recherche globale (incident, IP, hôte, IOC, compte, technique) dans l'en-tête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51A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5A63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5A63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· DATA MODEL PROPOSÉ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812800" y="873720"/>
            <a:ext cx="10883392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2800"/>
              <a:buFont typeface="Inter"/>
              <a:buNone/>
            </a:pPr>
            <a:r>
              <a:rPr b="1" i="0" lang="en-US" sz="28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La pièce à conviction au centre du modèle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815975" y="1471216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42019"/>
          </a:solidFill>
          <a:ln cap="flat" cmpd="sng" w="9525">
            <a:solidFill>
              <a:srgbClr val="2C4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958850" y="1588691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Evidence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958850" y="1857871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ref, outil, verdict, sha256, custody[]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5"/>
          <p:cNvSpPr/>
          <p:nvPr/>
        </p:nvSpPr>
        <p:spPr>
          <a:xfrm>
            <a:off x="3482975" y="1471216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3625850" y="1588691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Incident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3625850" y="1857871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id, sévérité, statut, phase, evidence[]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6149975" y="1471216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6292850" y="1588691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SecurityEvent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6292850" y="1857871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temps J±n, source, hôte, compte, technique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8816975" y="1471216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8959850" y="1588691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8959850" y="1857871"/>
            <a:ext cx="2341499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id, règle, source, actif, verdict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15975" y="2494657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958850" y="2612132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958850" y="2881313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hostname, type, état, ip et os nullables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482975" y="2494657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3625850" y="2612132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IOC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625850" y="2881313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type, valeur, rôle, réputation nullable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6149975" y="2494657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6292850" y="2612132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MITRETechnique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6292850" y="2881313"/>
            <a:ext cx="2341499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id, nom, tactique, incidents[]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8816975" y="2494657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8959850" y="2612132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Vulnerability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8959850" y="2881313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titre, sévérité, remédiation, cve nullable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815975" y="3518098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958850" y="3635573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958850" y="3904754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fichier, jour, fiches, date de collecte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3482975" y="3518098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3625850" y="3635573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Playbook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3625850" y="3904754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étapes, actions, mode toujours DÉMO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6149975" y="3518098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61C22"/>
          </a:solidFill>
          <a:ln cap="flat" cmpd="sng" w="9525">
            <a:solidFill>
              <a:srgbClr val="2630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6292850" y="3635573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CC45A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7CC4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AuditLog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292850" y="3904754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horodatage, acteur, action, objet, résultat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8816975" y="3518098"/>
            <a:ext cx="2559050" cy="915491"/>
          </a:xfrm>
          <a:prstGeom prst="roundRect">
            <a:avLst>
              <a:gd fmla="val 3815" name="adj"/>
            </a:avLst>
          </a:prstGeom>
          <a:solidFill>
            <a:srgbClr val="122233"/>
          </a:solidFill>
          <a:ln cap="flat" cmpd="sng" w="9525">
            <a:solidFill>
              <a:srgbClr val="274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8959850" y="3635573"/>
            <a:ext cx="2341499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C4FF"/>
              </a:buClr>
              <a:buSzPts val="130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8CC4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Provenance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8959850" y="3904754"/>
            <a:ext cx="2341499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5DDE5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D5DDE5"/>
                </a:solidFill>
                <a:latin typeface="Inter"/>
                <a:ea typeface="Inter"/>
                <a:cs typeface="Inter"/>
                <a:sym typeface="Inter"/>
              </a:rPr>
              <a:t>réel, dérivé, démo ou n/a, et sources[]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812800" y="4639965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4C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B9C4CF"/>
                </a:solidFill>
                <a:latin typeface="Inter"/>
                <a:ea typeface="Inter"/>
                <a:cs typeface="Inter"/>
                <a:sym typeface="Inter"/>
              </a:rPr>
              <a:t>Relations : Evidence n–n Incident · Incident n–n Technique · Incident n–n Asset · IOC n–n Evidence · Provenance attachée à chaque objet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5A637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E1216"/>
              </a:buClr>
              <a:buSzPts val="1200"/>
              <a:buFont typeface="JetBrains Mono"/>
              <a:buNone/>
            </a:pPr>
            <a:r>
              <a:rPr b="1" i="0" lang="en-US" sz="1200" u="none" cap="none" strike="noStrike">
                <a:solidFill>
                  <a:srgbClr val="0E121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ÉTAPE SUIVANTE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812800" y="1178520"/>
            <a:ext cx="10883392" cy="141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1216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0E1216"/>
                </a:solidFill>
                <a:latin typeface="Inter"/>
                <a:ea typeface="Inter"/>
                <a:cs typeface="Inter"/>
                <a:sym typeface="Inter"/>
              </a:rPr>
              <a:t>Prêt pour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E1216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0E1216"/>
                </a:solidFill>
                <a:latin typeface="Inter"/>
                <a:ea typeface="Inter"/>
                <a:cs typeface="Inter"/>
                <a:sym typeface="Inter"/>
              </a:rPr>
              <a:t>START DEVELOPMENT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812800" y="4897239"/>
            <a:ext cx="3420467" cy="1147961"/>
          </a:xfrm>
          <a:prstGeom prst="roundRect">
            <a:avLst>
              <a:gd fmla="val 4425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1016000" y="5075039"/>
            <a:ext cx="310448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400"/>
              <a:buFont typeface="JetBrains Mono"/>
              <a:buNone/>
            </a:pPr>
            <a:r>
              <a:rPr b="1" i="0" lang="en-US" sz="14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1016000" y="5387380"/>
            <a:ext cx="3104489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Frontend d'abord, services API prêts pour FastAPI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4385667" y="4897239"/>
            <a:ext cx="3420566" cy="1147961"/>
          </a:xfrm>
          <a:prstGeom prst="roundRect">
            <a:avLst>
              <a:gd fmla="val 4425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6"/>
          <p:cNvSpPr/>
          <p:nvPr/>
        </p:nvSpPr>
        <p:spPr>
          <a:xfrm>
            <a:off x="4588867" y="5075039"/>
            <a:ext cx="31045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400"/>
              <a:buFont typeface="JetBrains Mono"/>
              <a:buNone/>
            </a:pPr>
            <a:r>
              <a:rPr b="1" i="0" lang="en-US" sz="14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4588867" y="5387380"/>
            <a:ext cx="3104591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Seed JSON tiré des 22 fiches, chaque objet lié à sa pièce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7958634" y="4897239"/>
            <a:ext cx="3420566" cy="1147961"/>
          </a:xfrm>
          <a:prstGeom prst="roundRect">
            <a:avLst>
              <a:gd fmla="val 4425" name="adj"/>
            </a:avLst>
          </a:prstGeom>
          <a:solidFill>
            <a:srgbClr val="0E12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/>
          <p:nvPr/>
        </p:nvSpPr>
        <p:spPr>
          <a:xfrm>
            <a:off x="8161834" y="5075039"/>
            <a:ext cx="3104591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BD67A"/>
              </a:buClr>
              <a:buSzPts val="1400"/>
              <a:buFont typeface="JetBrains Mono"/>
              <a:buNone/>
            </a:pPr>
            <a:r>
              <a:rPr b="1" i="0" lang="en-US" sz="1400" u="none" cap="none" strike="noStrike">
                <a:solidFill>
                  <a:srgbClr val="9BD6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8161834" y="5387380"/>
            <a:ext cx="3104591" cy="50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4E9EE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E4E9EE"/>
                </a:solidFill>
                <a:latin typeface="Inter"/>
                <a:ea typeface="Inter"/>
                <a:cs typeface="Inter"/>
                <a:sym typeface="Inter"/>
              </a:rPr>
              <a:t>Démo réservée au SOAR et au flux temps réel, étiquetée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2026-09-24T14:39:47Z</dcterms:created>
  <dc:creator>PptxGenJS</dc:creator>
</cp:coreProperties>
</file>